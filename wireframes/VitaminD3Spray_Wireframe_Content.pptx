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1695" cy="6858000" type="screen16x9"/>
  <p:notesSz cx="6858000" cy="1219169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lt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/>
      </a:lvl1pPr>
    </p:titleStyle>
    <p:bodyStyle>
      <a:lvl1pPr>
        <a:defRPr sz="1100"/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f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x3"/>
          <p:cNvSpPr txBox="1"/>
          <p:nvPr/>
        </p:nvSpPr>
        <p:spPr>
          <a:xfrm>
            <a:off x="822960" y="1005840"/>
            <a:ext cx="10515600" cy="109728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3200" b="1" i="0">
                <a:solidFill>
                  <a:srgbClr val="FFFFFF"/>
                </a:solidFill>
                <a:latin typeface="Segoe UI"/>
              </a:rPr>
              <a:t>Vitamin D3 Spray — Wireframe &amp; Content Deck</a:t>
            </a:r>
          </a:p>
        </p:txBody>
      </p:sp>
      <p:sp>
        <p:nvSpPr>
          <p:cNvPr id="4" name="tx4"/>
          <p:cNvSpPr txBox="1"/>
          <p:nvPr/>
        </p:nvSpPr>
        <p:spPr>
          <a:xfrm>
            <a:off x="841248" y="2194560"/>
            <a:ext cx="10515600" cy="54864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0" i="0">
                <a:solidFill>
                  <a:srgbClr val="AAB0B6"/>
                </a:solidFill>
                <a:latin typeface="Segoe UI"/>
              </a:rPr>
              <a:t>Consumer / DTC · abstract low-fi · test slice</a:t>
            </a:r>
          </a:p>
        </p:txBody>
      </p:sp>
      <p:sp>
        <p:nvSpPr>
          <p:cNvPr id="5" name="tx5"/>
          <p:cNvSpPr txBox="1"/>
          <p:nvPr/>
        </p:nvSpPr>
        <p:spPr>
          <a:xfrm>
            <a:off x="822960" y="3063240"/>
            <a:ext cx="10515600" cy="338328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600"/>
              </a:spcAft>
            </a:pPr>
            <a:r>
              <a:rPr lang="en-GB" sz="1500" b="1" i="0">
                <a:solidFill>
                  <a:srgbClr val="FFFFFF"/>
                </a:solidFill>
                <a:latin typeface="Segoe UI"/>
              </a:rPr>
              <a:t>How to use this deck</a:t>
            </a:r>
          </a:p>
          <a:p>
            <a:pPr algn="l">
              <a:spcAft>
                <a:spcPts val="400"/>
              </a:spcAft>
            </a:pPr>
            <a:r>
              <a:rPr lang="en-GB" sz="1250" b="0" i="0">
                <a:solidFill>
                  <a:srgbClr val="D3D7DB"/>
                </a:solidFill>
                <a:latin typeface="Segoe UI"/>
              </a:rPr>
              <a:t>1.  Slide 2 shows the page flow (order of sections).</a:t>
            </a:r>
          </a:p>
          <a:p>
            <a:pPr algn="l">
              <a:spcAft>
                <a:spcPts val="400"/>
              </a:spcAft>
            </a:pPr>
            <a:r>
              <a:rPr lang="en-GB" sz="1250" b="0" i="0">
                <a:solidFill>
                  <a:srgbClr val="D3D7DB"/>
                </a:solidFill>
                <a:latin typeface="Segoe UI"/>
              </a:rPr>
              <a:t>2.  One slide per section: a loose layout sketch on the left, generic content slots on the right.</a:t>
            </a:r>
          </a:p>
          <a:p>
            <a:pPr algn="l">
              <a:spcAft>
                <a:spcPts val="400"/>
              </a:spcAft>
            </a:pPr>
            <a:r>
              <a:rPr lang="en-GB" sz="1250" b="0" i="0">
                <a:solidFill>
                  <a:srgbClr val="D3D7DB"/>
                </a:solidFill>
                <a:latin typeface="Segoe UI"/>
              </a:rPr>
              <a:t>3.  Click a slot and overwrite the grey prompt. Fill what's relevant — skip slots that don't apply.</a:t>
            </a:r>
          </a:p>
          <a:p>
            <a:pPr algn="l">
              <a:spcAft>
                <a:spcPts val="400"/>
              </a:spcAft>
            </a:pPr>
            <a:r>
              <a:rPr lang="en-GB" sz="1250" b="0" i="0">
                <a:solidFill>
                  <a:srgbClr val="D3D7DB"/>
                </a:solidFill>
                <a:latin typeface="Segoe UI"/>
              </a:rPr>
              <a:t>4.  It's intentionally abstract: structure &amp; copy first, exact layout comes later.</a:t>
            </a:r>
          </a:p>
          <a:p>
            <a:pPr algn="l">
              <a:spcAft>
                <a:spcPts val="400"/>
              </a:spcAft>
            </a:pPr>
            <a:r>
              <a:rPr lang="en-GB" sz="1250" b="0" i="0">
                <a:solidFill>
                  <a:srgbClr val="D3D7DB"/>
                </a:solidFill>
                <a:latin typeface="Segoe UI"/>
              </a:rPr>
              <a:t>5.  Sign-off via PowerPoint comments (Review → New Comment).</a:t>
            </a:r>
          </a:p>
          <a:p>
            <a:pPr algn="l">
              <a:spcAft>
                <a:spcPts val="300"/>
              </a:spcAft>
            </a:pPr>
            <a:r>
              <a:rPr lang="en-GB" sz="1050" b="0" i="1">
                <a:solidFill>
                  <a:srgbClr val="8A9099"/>
                </a:solidFill>
                <a:latin typeface="Segoe UI"/>
              </a:rPr>
              <a:t>Greyscale wireframe is deliberate (pre-brandbook). The build is done from the HTML reference.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wf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x7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2000" b="1" i="0">
                <a:solidFill>
                  <a:srgbClr val="2A2F34"/>
                </a:solidFill>
                <a:latin typeface="Segoe UI"/>
              </a:rPr>
              <a:t>Page flow — section order (top → bottom)</a:t>
            </a:r>
          </a:p>
        </p:txBody>
      </p:sp>
      <p:sp>
        <p:nvSpPr>
          <p:cNvPr id="8" name="wf8"/>
          <p:cNvSpPr/>
          <p:nvPr/>
        </p:nvSpPr>
        <p:spPr>
          <a:xfrm>
            <a:off x="640080" y="1325880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9" name="wf9"/>
          <p:cNvSpPr/>
          <p:nvPr/>
        </p:nvSpPr>
        <p:spPr>
          <a:xfrm>
            <a:off x="731520" y="1444752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x10"/>
          <p:cNvSpPr txBox="1"/>
          <p:nvPr/>
        </p:nvSpPr>
        <p:spPr>
          <a:xfrm>
            <a:off x="1325880" y="1380744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Hero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First impression — promise + primary action.</a:t>
            </a:r>
          </a:p>
        </p:txBody>
      </p:sp>
      <p:sp>
        <p:nvSpPr>
          <p:cNvPr id="11" name="wf11"/>
          <p:cNvSpPr/>
          <p:nvPr/>
        </p:nvSpPr>
        <p:spPr>
          <a:xfrm>
            <a:off x="640080" y="2167128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12" name="wf12"/>
          <p:cNvSpPr/>
          <p:nvPr/>
        </p:nvSpPr>
        <p:spPr>
          <a:xfrm>
            <a:off x="731520" y="2286000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3" name="tx13"/>
          <p:cNvSpPr txBox="1"/>
          <p:nvPr/>
        </p:nvSpPr>
        <p:spPr>
          <a:xfrm>
            <a:off x="1325880" y="2221992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Trust strip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Reassurance band right under the hero.</a:t>
            </a:r>
          </a:p>
        </p:txBody>
      </p:sp>
      <p:sp>
        <p:nvSpPr>
          <p:cNvPr id="14" name="wf14"/>
          <p:cNvSpPr/>
          <p:nvPr/>
        </p:nvSpPr>
        <p:spPr>
          <a:xfrm>
            <a:off x="640080" y="3008376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15" name="wf15"/>
          <p:cNvSpPr/>
          <p:nvPr/>
        </p:nvSpPr>
        <p:spPr>
          <a:xfrm>
            <a:off x="731520" y="3127248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x16"/>
          <p:cNvSpPr txBox="1"/>
          <p:nvPr/>
        </p:nvSpPr>
        <p:spPr>
          <a:xfrm>
            <a:off x="1325880" y="3063240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Why it matters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Open the need / problem.</a:t>
            </a:r>
          </a:p>
        </p:txBody>
      </p:sp>
      <p:sp>
        <p:nvSpPr>
          <p:cNvPr id="17" name="wf17"/>
          <p:cNvSpPr/>
          <p:nvPr/>
        </p:nvSpPr>
        <p:spPr>
          <a:xfrm>
            <a:off x="640080" y="3849624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18" name="wf18"/>
          <p:cNvSpPr/>
          <p:nvPr/>
        </p:nvSpPr>
        <p:spPr>
          <a:xfrm>
            <a:off x="731520" y="3968496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1325880" y="3904488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Product &amp; USP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What makes it different.</a:t>
            </a:r>
          </a:p>
        </p:txBody>
      </p:sp>
      <p:sp>
        <p:nvSpPr>
          <p:cNvPr id="20" name="wf20"/>
          <p:cNvSpPr/>
          <p:nvPr/>
        </p:nvSpPr>
        <p:spPr>
          <a:xfrm>
            <a:off x="640080" y="4690872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21" name="wf21"/>
          <p:cNvSpPr/>
          <p:nvPr/>
        </p:nvSpPr>
        <p:spPr>
          <a:xfrm>
            <a:off x="731520" y="4809744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2" name="tx22"/>
          <p:cNvSpPr txBox="1"/>
          <p:nvPr/>
        </p:nvSpPr>
        <p:spPr>
          <a:xfrm>
            <a:off x="1325880" y="4745736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How to use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Simple step explainer.</a:t>
            </a:r>
          </a:p>
        </p:txBody>
      </p:sp>
      <p:sp>
        <p:nvSpPr>
          <p:cNvPr id="23" name="wf23"/>
          <p:cNvSpPr/>
          <p:nvPr/>
        </p:nvSpPr>
        <p:spPr>
          <a:xfrm>
            <a:off x="640080" y="5532120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24" name="wf24"/>
          <p:cNvSpPr/>
          <p:nvPr/>
        </p:nvSpPr>
        <p:spPr>
          <a:xfrm>
            <a:off x="731520" y="5650992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5" name="tx25"/>
          <p:cNvSpPr txBox="1"/>
          <p:nvPr/>
        </p:nvSpPr>
        <p:spPr>
          <a:xfrm>
            <a:off x="1325880" y="5586984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Benefits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Concrete benefits.</a:t>
            </a:r>
          </a:p>
        </p:txBody>
      </p:sp>
      <p:sp>
        <p:nvSpPr>
          <p:cNvPr id="26" name="wf26"/>
          <p:cNvSpPr/>
          <p:nvPr/>
        </p:nvSpPr>
        <p:spPr>
          <a:xfrm>
            <a:off x="6400800" y="1325880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27" name="wf27"/>
          <p:cNvSpPr/>
          <p:nvPr/>
        </p:nvSpPr>
        <p:spPr>
          <a:xfrm>
            <a:off x="6492240" y="1444752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28" name="tx28"/>
          <p:cNvSpPr txBox="1"/>
          <p:nvPr/>
        </p:nvSpPr>
        <p:spPr>
          <a:xfrm>
            <a:off x="7086600" y="1380744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Ingredients &amp; specs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What's inside / facts.</a:t>
            </a:r>
          </a:p>
        </p:txBody>
      </p:sp>
      <p:sp>
        <p:nvSpPr>
          <p:cNvPr id="29" name="wf29"/>
          <p:cNvSpPr/>
          <p:nvPr/>
        </p:nvSpPr>
        <p:spPr>
          <a:xfrm>
            <a:off x="6400800" y="2167128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30" name="wf30"/>
          <p:cNvSpPr/>
          <p:nvPr/>
        </p:nvSpPr>
        <p:spPr>
          <a:xfrm>
            <a:off x="6492240" y="2286000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31" name="tx31"/>
          <p:cNvSpPr txBox="1"/>
          <p:nvPr/>
        </p:nvSpPr>
        <p:spPr>
          <a:xfrm>
            <a:off x="7086600" y="2221992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Reviews / social proof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Credibility &amp; customer voice.</a:t>
            </a:r>
          </a:p>
        </p:txBody>
      </p:sp>
      <p:sp>
        <p:nvSpPr>
          <p:cNvPr id="32" name="wf32"/>
          <p:cNvSpPr/>
          <p:nvPr/>
        </p:nvSpPr>
        <p:spPr>
          <a:xfrm>
            <a:off x="6400800" y="3008376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33" name="wf33"/>
          <p:cNvSpPr/>
          <p:nvPr/>
        </p:nvSpPr>
        <p:spPr>
          <a:xfrm>
            <a:off x="6492240" y="3127248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34" name="tx34"/>
          <p:cNvSpPr txBox="1"/>
          <p:nvPr/>
        </p:nvSpPr>
        <p:spPr>
          <a:xfrm>
            <a:off x="7086600" y="3063240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Pricing / options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Purchase choices.</a:t>
            </a:r>
          </a:p>
        </p:txBody>
      </p:sp>
      <p:sp>
        <p:nvSpPr>
          <p:cNvPr id="35" name="wf35"/>
          <p:cNvSpPr/>
          <p:nvPr/>
        </p:nvSpPr>
        <p:spPr>
          <a:xfrm>
            <a:off x="6400800" y="3849624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36" name="wf36"/>
          <p:cNvSpPr/>
          <p:nvPr/>
        </p:nvSpPr>
        <p:spPr>
          <a:xfrm>
            <a:off x="6492240" y="3968496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7" name="tx37"/>
          <p:cNvSpPr txBox="1"/>
          <p:nvPr/>
        </p:nvSpPr>
        <p:spPr>
          <a:xfrm>
            <a:off x="7086600" y="3904488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FAQ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Common questions.</a:t>
            </a:r>
          </a:p>
        </p:txBody>
      </p:sp>
      <p:sp>
        <p:nvSpPr>
          <p:cNvPr id="38" name="wf38"/>
          <p:cNvSpPr/>
          <p:nvPr/>
        </p:nvSpPr>
        <p:spPr>
          <a:xfrm>
            <a:off x="6400800" y="4690872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39" name="wf39"/>
          <p:cNvSpPr/>
          <p:nvPr/>
        </p:nvSpPr>
        <p:spPr>
          <a:xfrm>
            <a:off x="6492240" y="4809744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0" name="tx40"/>
          <p:cNvSpPr txBox="1"/>
          <p:nvPr/>
        </p:nvSpPr>
        <p:spPr>
          <a:xfrm>
            <a:off x="7086600" y="4745736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Guarantee &amp; trust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Risk reversal + legal note.</a:t>
            </a:r>
          </a:p>
        </p:txBody>
      </p:sp>
      <p:sp>
        <p:nvSpPr>
          <p:cNvPr id="41" name="wf41"/>
          <p:cNvSpPr/>
          <p:nvPr/>
        </p:nvSpPr>
        <p:spPr>
          <a:xfrm>
            <a:off x="6400800" y="5532120"/>
            <a:ext cx="5486400" cy="713232"/>
          </a:xfrm>
          <a:prstGeom prst="round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42" name="wf42"/>
          <p:cNvSpPr/>
          <p:nvPr/>
        </p:nvSpPr>
        <p:spPr>
          <a:xfrm>
            <a:off x="6492240" y="5650992"/>
            <a:ext cx="475488" cy="475488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GB" sz="110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tx43"/>
          <p:cNvSpPr txBox="1"/>
          <p:nvPr/>
        </p:nvSpPr>
        <p:spPr>
          <a:xfrm>
            <a:off x="7086600" y="5586984"/>
            <a:ext cx="4709160" cy="64008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100"/>
              </a:spcAft>
            </a:pPr>
            <a:r>
              <a:rPr lang="en-GB" sz="1200" b="1" i="0">
                <a:solidFill>
                  <a:srgbClr val="2A2F34"/>
                </a:solidFill>
                <a:latin typeface="Segoe UI"/>
              </a:rPr>
              <a:t>Closing CTA</a:t>
            </a:r>
          </a:p>
          <a:p>
            <a:pPr algn="l">
              <a:spcAft>
                <a:spcPts val="300"/>
              </a:spcAft>
            </a:pPr>
            <a:r>
              <a:rPr lang="en-GB" sz="900" b="0" i="0">
                <a:solidFill>
                  <a:srgbClr val="6B7178"/>
                </a:solidFill>
                <a:latin typeface="Segoe UI"/>
              </a:rPr>
              <a:t>Final call-to-action.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wf44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x45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01 · Hero</a:t>
            </a:r>
          </a:p>
        </p:txBody>
      </p:sp>
      <p:sp>
        <p:nvSpPr>
          <p:cNvPr id="46" name="tx46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1 / 12</a:t>
            </a:r>
          </a:p>
        </p:txBody>
      </p:sp>
      <p:sp>
        <p:nvSpPr>
          <p:cNvPr id="47" name="tx47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First impression — promise + primary action.</a:t>
            </a:r>
          </a:p>
        </p:txBody>
      </p:sp>
      <p:sp>
        <p:nvSpPr>
          <p:cNvPr id="48" name="wf48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49" name="tx49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50" name="wf50"/>
          <p:cNvSpPr/>
          <p:nvPr/>
        </p:nvSpPr>
        <p:spPr>
          <a:xfrm>
            <a:off x="3359505" y="1865376"/>
            <a:ext cx="2035454" cy="439826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 wrap="square" anchor="ctr"/>
          <a:lstStyle/>
          <a:p>
            <a:pPr algn="ctr"/>
            <a:r>
              <a:rPr lang="en-GB" sz="900">
                <a:solidFill>
                  <a:srgbClr val="9AA1A8"/>
                </a:solidFill>
                <a:latin typeface="Segoe UI"/>
              </a:rPr>
              <a:t>visual</a:t>
            </a:r>
          </a:p>
        </p:txBody>
      </p:sp>
      <p:sp>
        <p:nvSpPr>
          <p:cNvPr id="51" name="wf51"/>
          <p:cNvSpPr/>
          <p:nvPr/>
        </p:nvSpPr>
        <p:spPr>
          <a:xfrm>
            <a:off x="548640" y="2002536"/>
            <a:ext cx="2423160" cy="50292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52" name="wf52"/>
          <p:cNvSpPr/>
          <p:nvPr/>
        </p:nvSpPr>
        <p:spPr>
          <a:xfrm>
            <a:off x="548640" y="2642616"/>
            <a:ext cx="2423160" cy="292608"/>
          </a:xfrm>
          <a:prstGeom prst="roundRect">
            <a:avLst/>
          </a:prstGeom>
          <a:solidFill>
            <a:srgbClr val="DDE0E3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53" name="wf53"/>
          <p:cNvSpPr/>
          <p:nvPr/>
        </p:nvSpPr>
        <p:spPr>
          <a:xfrm>
            <a:off x="548640" y="3026664"/>
            <a:ext cx="2423160" cy="292608"/>
          </a:xfrm>
          <a:prstGeom prst="roundRect">
            <a:avLst/>
          </a:prstGeom>
          <a:solidFill>
            <a:srgbClr val="DDE0E3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54" name="wf54"/>
          <p:cNvSpPr/>
          <p:nvPr/>
        </p:nvSpPr>
        <p:spPr>
          <a:xfrm>
            <a:off x="548640" y="3465576"/>
            <a:ext cx="1356969" cy="310896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x55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57" name="tx57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56" name="fld56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59" name="tx59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58" name="fld58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61" name="tx61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60" name="fld60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63" name="tx63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62" name="fld62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65" name="tx65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64" name="fld64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67" name="tx67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66" name="fld66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wf68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x69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02 · Trust strip</a:t>
            </a:r>
          </a:p>
        </p:txBody>
      </p:sp>
      <p:sp>
        <p:nvSpPr>
          <p:cNvPr id="70" name="tx70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2 / 12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Reassurance band right under the hero.</a:t>
            </a:r>
          </a:p>
        </p:txBody>
      </p:sp>
      <p:sp>
        <p:nvSpPr>
          <p:cNvPr id="72" name="wf72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73" name="tx73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74" name="wf74"/>
          <p:cNvSpPr/>
          <p:nvPr/>
        </p:nvSpPr>
        <p:spPr>
          <a:xfrm>
            <a:off x="548640" y="1865376"/>
            <a:ext cx="2423160" cy="41148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75" name="wf75"/>
          <p:cNvSpPr/>
          <p:nvPr/>
        </p:nvSpPr>
        <p:spPr>
          <a:xfrm>
            <a:off x="548640" y="2414016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76" name="wf76"/>
          <p:cNvSpPr/>
          <p:nvPr/>
        </p:nvSpPr>
        <p:spPr>
          <a:xfrm>
            <a:off x="548640" y="2798064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77" name="wf77"/>
          <p:cNvSpPr/>
          <p:nvPr/>
        </p:nvSpPr>
        <p:spPr>
          <a:xfrm>
            <a:off x="548640" y="3182112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78" name="wf78"/>
          <p:cNvSpPr/>
          <p:nvPr/>
        </p:nvSpPr>
        <p:spPr>
          <a:xfrm>
            <a:off x="548640" y="3566160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79" name="wf79"/>
          <p:cNvSpPr/>
          <p:nvPr/>
        </p:nvSpPr>
        <p:spPr>
          <a:xfrm>
            <a:off x="548640" y="3950208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80" name="tx80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82" name="tx82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81" name="fld81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84" name="tx84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83" name="fld83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86" name="tx86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85" name="fld85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88" name="tx88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87" name="fld87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90" name="tx90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89" name="fld89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92" name="tx92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91" name="fld91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wf93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tx94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03 · Why it matters</a:t>
            </a:r>
          </a:p>
        </p:txBody>
      </p:sp>
      <p:sp>
        <p:nvSpPr>
          <p:cNvPr id="95" name="tx95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3 / 12</a:t>
            </a:r>
          </a:p>
        </p:txBody>
      </p:sp>
      <p:sp>
        <p:nvSpPr>
          <p:cNvPr id="96" name="tx96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Open the need / problem.</a:t>
            </a:r>
          </a:p>
        </p:txBody>
      </p:sp>
      <p:sp>
        <p:nvSpPr>
          <p:cNvPr id="97" name="wf97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98" name="tx98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99" name="wf99"/>
          <p:cNvSpPr/>
          <p:nvPr/>
        </p:nvSpPr>
        <p:spPr>
          <a:xfrm>
            <a:off x="1275588" y="2139696"/>
            <a:ext cx="3392424" cy="50292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00" name="wf100"/>
          <p:cNvSpPr/>
          <p:nvPr/>
        </p:nvSpPr>
        <p:spPr>
          <a:xfrm>
            <a:off x="912114" y="2779776"/>
            <a:ext cx="4119372" cy="320040"/>
          </a:xfrm>
          <a:prstGeom prst="roundRect">
            <a:avLst/>
          </a:prstGeom>
          <a:solidFill>
            <a:srgbClr val="DDE0E3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01" name="wf101"/>
          <p:cNvSpPr/>
          <p:nvPr/>
        </p:nvSpPr>
        <p:spPr>
          <a:xfrm>
            <a:off x="2341778" y="3419856"/>
            <a:ext cx="1260043" cy="329184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tx102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104" name="tx104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103" name="fld103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106" name="tx106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105" name="fld105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108" name="tx108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107" name="fld107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110" name="tx110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109" name="fld109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112" name="tx112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111" name="fld111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114" name="tx114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113" name="fld113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wf115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tx116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04 · Product &amp; USP</a:t>
            </a:r>
          </a:p>
        </p:txBody>
      </p:sp>
      <p:sp>
        <p:nvSpPr>
          <p:cNvPr id="117" name="tx117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4 / 12</a:t>
            </a:r>
          </a:p>
        </p:txBody>
      </p:sp>
      <p:sp>
        <p:nvSpPr>
          <p:cNvPr id="118" name="tx118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What makes it different.</a:t>
            </a:r>
          </a:p>
        </p:txBody>
      </p:sp>
      <p:sp>
        <p:nvSpPr>
          <p:cNvPr id="119" name="wf119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120" name="tx120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121" name="wf121"/>
          <p:cNvSpPr/>
          <p:nvPr/>
        </p:nvSpPr>
        <p:spPr>
          <a:xfrm>
            <a:off x="548640" y="1865376"/>
            <a:ext cx="2035454" cy="439826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 wrap="square" anchor="ctr"/>
          <a:lstStyle/>
          <a:p>
            <a:pPr algn="ctr"/>
            <a:r>
              <a:rPr lang="en-GB" sz="900">
                <a:solidFill>
                  <a:srgbClr val="9AA1A8"/>
                </a:solidFill>
                <a:latin typeface="Segoe UI"/>
              </a:rPr>
              <a:t>visual</a:t>
            </a:r>
          </a:p>
        </p:txBody>
      </p:sp>
      <p:sp>
        <p:nvSpPr>
          <p:cNvPr id="122" name="wf122"/>
          <p:cNvSpPr/>
          <p:nvPr/>
        </p:nvSpPr>
        <p:spPr>
          <a:xfrm>
            <a:off x="2971800" y="2002536"/>
            <a:ext cx="2423160" cy="50292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23" name="wf123"/>
          <p:cNvSpPr/>
          <p:nvPr/>
        </p:nvSpPr>
        <p:spPr>
          <a:xfrm>
            <a:off x="2971800" y="2642616"/>
            <a:ext cx="2423160" cy="292608"/>
          </a:xfrm>
          <a:prstGeom prst="roundRect">
            <a:avLst/>
          </a:prstGeom>
          <a:solidFill>
            <a:srgbClr val="DDE0E3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24" name="wf124"/>
          <p:cNvSpPr/>
          <p:nvPr/>
        </p:nvSpPr>
        <p:spPr>
          <a:xfrm>
            <a:off x="2971800" y="3026664"/>
            <a:ext cx="2423160" cy="292608"/>
          </a:xfrm>
          <a:prstGeom prst="roundRect">
            <a:avLst/>
          </a:prstGeom>
          <a:solidFill>
            <a:srgbClr val="DDE0E3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25" name="wf125"/>
          <p:cNvSpPr/>
          <p:nvPr/>
        </p:nvSpPr>
        <p:spPr>
          <a:xfrm>
            <a:off x="2971800" y="3465576"/>
            <a:ext cx="1163116" cy="310896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tx126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128" name="tx128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127" name="fld127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130" name="tx130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129" name="fld129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132" name="tx132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131" name="fld131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134" name="tx134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133" name="fld133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136" name="tx136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135" name="fld135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138" name="tx138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137" name="fld137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wf139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tx140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05 · How to use</a:t>
            </a:r>
          </a:p>
        </p:txBody>
      </p:sp>
      <p:sp>
        <p:nvSpPr>
          <p:cNvPr id="141" name="tx141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5 / 12</a:t>
            </a:r>
          </a:p>
        </p:txBody>
      </p:sp>
      <p:sp>
        <p:nvSpPr>
          <p:cNvPr id="142" name="tx142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Simple step explainer.</a:t>
            </a:r>
          </a:p>
        </p:txBody>
      </p:sp>
      <p:sp>
        <p:nvSpPr>
          <p:cNvPr id="143" name="wf143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144" name="tx144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145" name="wf145"/>
          <p:cNvSpPr/>
          <p:nvPr/>
        </p:nvSpPr>
        <p:spPr>
          <a:xfrm>
            <a:off x="1517904" y="1865376"/>
            <a:ext cx="2907792" cy="45720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46" name="wf146"/>
          <p:cNvSpPr/>
          <p:nvPr/>
        </p:nvSpPr>
        <p:spPr>
          <a:xfrm>
            <a:off x="548640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47" name="wf147"/>
          <p:cNvSpPr/>
          <p:nvPr/>
        </p:nvSpPr>
        <p:spPr>
          <a:xfrm>
            <a:off x="2206752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48" name="wf148"/>
          <p:cNvSpPr/>
          <p:nvPr/>
        </p:nvSpPr>
        <p:spPr>
          <a:xfrm>
            <a:off x="3864864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49" name="tx149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151" name="tx151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150" name="fld150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153" name="tx153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152" name="fld152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155" name="tx155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154" name="fld154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157" name="tx157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156" name="fld156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159" name="tx159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158" name="fld158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161" name="tx161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160" name="fld160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wf162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tx163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06 · Benefits</a:t>
            </a:r>
          </a:p>
        </p:txBody>
      </p:sp>
      <p:sp>
        <p:nvSpPr>
          <p:cNvPr id="164" name="tx164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6 / 12</a:t>
            </a:r>
          </a:p>
        </p:txBody>
      </p:sp>
      <p:sp>
        <p:nvSpPr>
          <p:cNvPr id="165" name="tx165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Concrete benefits.</a:t>
            </a:r>
          </a:p>
        </p:txBody>
      </p:sp>
      <p:sp>
        <p:nvSpPr>
          <p:cNvPr id="166" name="wf166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167" name="tx167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168" name="wf168"/>
          <p:cNvSpPr/>
          <p:nvPr/>
        </p:nvSpPr>
        <p:spPr>
          <a:xfrm>
            <a:off x="548640" y="1865376"/>
            <a:ext cx="2423160" cy="41148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69" name="wf169"/>
          <p:cNvSpPr/>
          <p:nvPr/>
        </p:nvSpPr>
        <p:spPr>
          <a:xfrm>
            <a:off x="548640" y="2414016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70" name="wf170"/>
          <p:cNvSpPr/>
          <p:nvPr/>
        </p:nvSpPr>
        <p:spPr>
          <a:xfrm>
            <a:off x="548640" y="2798064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71" name="wf171"/>
          <p:cNvSpPr/>
          <p:nvPr/>
        </p:nvSpPr>
        <p:spPr>
          <a:xfrm>
            <a:off x="548640" y="3182112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72" name="wf172"/>
          <p:cNvSpPr/>
          <p:nvPr/>
        </p:nvSpPr>
        <p:spPr>
          <a:xfrm>
            <a:off x="548640" y="3566160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73" name="wf173"/>
          <p:cNvSpPr/>
          <p:nvPr/>
        </p:nvSpPr>
        <p:spPr>
          <a:xfrm>
            <a:off x="548640" y="3950208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74" name="tx174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176" name="tx176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175" name="fld175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178" name="tx178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177" name="fld177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180" name="tx180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179" name="fld179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182" name="tx182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181" name="fld181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184" name="tx184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183" name="fld183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186" name="tx186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185" name="fld185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wf187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tx188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07 · Ingredients &amp; specs</a:t>
            </a:r>
          </a:p>
        </p:txBody>
      </p:sp>
      <p:sp>
        <p:nvSpPr>
          <p:cNvPr id="189" name="tx189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7 / 12</a:t>
            </a:r>
          </a:p>
        </p:txBody>
      </p:sp>
      <p:sp>
        <p:nvSpPr>
          <p:cNvPr id="190" name="tx190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What's inside / facts.</a:t>
            </a:r>
          </a:p>
        </p:txBody>
      </p:sp>
      <p:sp>
        <p:nvSpPr>
          <p:cNvPr id="191" name="wf191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192" name="tx192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193" name="wf193"/>
          <p:cNvSpPr/>
          <p:nvPr/>
        </p:nvSpPr>
        <p:spPr>
          <a:xfrm>
            <a:off x="548640" y="1865376"/>
            <a:ext cx="2423160" cy="41148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94" name="wf194"/>
          <p:cNvSpPr/>
          <p:nvPr/>
        </p:nvSpPr>
        <p:spPr>
          <a:xfrm>
            <a:off x="548640" y="2414016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95" name="wf195"/>
          <p:cNvSpPr/>
          <p:nvPr/>
        </p:nvSpPr>
        <p:spPr>
          <a:xfrm>
            <a:off x="548640" y="2798064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96" name="wf196"/>
          <p:cNvSpPr/>
          <p:nvPr/>
        </p:nvSpPr>
        <p:spPr>
          <a:xfrm>
            <a:off x="548640" y="3182112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97" name="wf197"/>
          <p:cNvSpPr/>
          <p:nvPr/>
        </p:nvSpPr>
        <p:spPr>
          <a:xfrm>
            <a:off x="548640" y="3566160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98" name="wf198"/>
          <p:cNvSpPr/>
          <p:nvPr/>
        </p:nvSpPr>
        <p:spPr>
          <a:xfrm>
            <a:off x="548640" y="3950208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199" name="tx199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201" name="tx201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200" name="fld200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203" name="tx203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202" name="fld202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205" name="tx205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204" name="fld204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207" name="tx207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206" name="fld206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209" name="tx209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208" name="fld208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211" name="tx211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210" name="fld210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wf212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tx213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08 · Reviews / social proof</a:t>
            </a:r>
          </a:p>
        </p:txBody>
      </p:sp>
      <p:sp>
        <p:nvSpPr>
          <p:cNvPr id="214" name="tx214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8 / 12</a:t>
            </a:r>
          </a:p>
        </p:txBody>
      </p:sp>
      <p:sp>
        <p:nvSpPr>
          <p:cNvPr id="215" name="tx215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Credibility &amp; customer voice.</a:t>
            </a:r>
          </a:p>
        </p:txBody>
      </p:sp>
      <p:sp>
        <p:nvSpPr>
          <p:cNvPr id="216" name="wf216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217" name="tx217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218" name="wf218"/>
          <p:cNvSpPr/>
          <p:nvPr/>
        </p:nvSpPr>
        <p:spPr>
          <a:xfrm>
            <a:off x="1517904" y="1865376"/>
            <a:ext cx="2907792" cy="45720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19" name="wf219"/>
          <p:cNvSpPr/>
          <p:nvPr/>
        </p:nvSpPr>
        <p:spPr>
          <a:xfrm>
            <a:off x="548640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20" name="wf220"/>
          <p:cNvSpPr/>
          <p:nvPr/>
        </p:nvSpPr>
        <p:spPr>
          <a:xfrm>
            <a:off x="2206752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21" name="wf221"/>
          <p:cNvSpPr/>
          <p:nvPr/>
        </p:nvSpPr>
        <p:spPr>
          <a:xfrm>
            <a:off x="3864864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22" name="tx222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224" name="tx224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223" name="fld223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226" name="tx226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225" name="fld225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228" name="tx228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227" name="fld227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230" name="tx230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229" name="fld229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232" name="tx232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231" name="fld231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234" name="tx234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233" name="fld233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wf235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tx236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09 · Pricing / options</a:t>
            </a:r>
          </a:p>
        </p:txBody>
      </p:sp>
      <p:sp>
        <p:nvSpPr>
          <p:cNvPr id="237" name="tx237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9 / 12</a:t>
            </a:r>
          </a:p>
        </p:txBody>
      </p:sp>
      <p:sp>
        <p:nvSpPr>
          <p:cNvPr id="238" name="tx238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Purchase choices.</a:t>
            </a:r>
          </a:p>
        </p:txBody>
      </p:sp>
      <p:sp>
        <p:nvSpPr>
          <p:cNvPr id="239" name="wf239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240" name="tx240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241" name="wf241"/>
          <p:cNvSpPr/>
          <p:nvPr/>
        </p:nvSpPr>
        <p:spPr>
          <a:xfrm>
            <a:off x="1517904" y="1865376"/>
            <a:ext cx="2907792" cy="45720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42" name="wf242"/>
          <p:cNvSpPr/>
          <p:nvPr/>
        </p:nvSpPr>
        <p:spPr>
          <a:xfrm>
            <a:off x="548640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43" name="wf243"/>
          <p:cNvSpPr/>
          <p:nvPr/>
        </p:nvSpPr>
        <p:spPr>
          <a:xfrm>
            <a:off x="2206752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44" name="wf244"/>
          <p:cNvSpPr/>
          <p:nvPr/>
        </p:nvSpPr>
        <p:spPr>
          <a:xfrm>
            <a:off x="3864864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45" name="tx245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247" name="tx247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246" name="fld246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249" name="tx249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248" name="fld248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251" name="tx251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250" name="fld250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253" name="tx253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252" name="fld252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255" name="tx255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254" name="fld254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257" name="tx257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256" name="fld256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wf258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" name="tx259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10 · FAQ</a:t>
            </a:r>
          </a:p>
        </p:txBody>
      </p:sp>
      <p:sp>
        <p:nvSpPr>
          <p:cNvPr id="260" name="tx260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10 / 12</a:t>
            </a:r>
          </a:p>
        </p:txBody>
      </p:sp>
      <p:sp>
        <p:nvSpPr>
          <p:cNvPr id="261" name="tx261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Common questions.</a:t>
            </a:r>
          </a:p>
        </p:txBody>
      </p:sp>
      <p:sp>
        <p:nvSpPr>
          <p:cNvPr id="262" name="wf262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263" name="tx263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264" name="wf264"/>
          <p:cNvSpPr/>
          <p:nvPr/>
        </p:nvSpPr>
        <p:spPr>
          <a:xfrm>
            <a:off x="548640" y="1865376"/>
            <a:ext cx="2423160" cy="41148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65" name="wf265"/>
          <p:cNvSpPr/>
          <p:nvPr/>
        </p:nvSpPr>
        <p:spPr>
          <a:xfrm>
            <a:off x="548640" y="2414016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66" name="wf266"/>
          <p:cNvSpPr/>
          <p:nvPr/>
        </p:nvSpPr>
        <p:spPr>
          <a:xfrm>
            <a:off x="548640" y="2798064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67" name="wf267"/>
          <p:cNvSpPr/>
          <p:nvPr/>
        </p:nvSpPr>
        <p:spPr>
          <a:xfrm>
            <a:off x="548640" y="3182112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68" name="wf268"/>
          <p:cNvSpPr/>
          <p:nvPr/>
        </p:nvSpPr>
        <p:spPr>
          <a:xfrm>
            <a:off x="548640" y="3566160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69" name="wf269"/>
          <p:cNvSpPr/>
          <p:nvPr/>
        </p:nvSpPr>
        <p:spPr>
          <a:xfrm>
            <a:off x="548640" y="3950208"/>
            <a:ext cx="4846320" cy="310896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70" name="tx270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272" name="tx272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271" name="fld271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274" name="tx274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273" name="fld273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276" name="tx276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275" name="fld275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278" name="tx278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277" name="fld277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280" name="tx280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279" name="fld279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282" name="tx282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281" name="fld281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wf283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" name="tx284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11 · Guarantee &amp; trust</a:t>
            </a:r>
          </a:p>
        </p:txBody>
      </p:sp>
      <p:sp>
        <p:nvSpPr>
          <p:cNvPr id="285" name="tx285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11 / 12</a:t>
            </a:r>
          </a:p>
        </p:txBody>
      </p:sp>
      <p:sp>
        <p:nvSpPr>
          <p:cNvPr id="286" name="tx286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Risk reversal + legal note.</a:t>
            </a:r>
          </a:p>
        </p:txBody>
      </p:sp>
      <p:sp>
        <p:nvSpPr>
          <p:cNvPr id="287" name="wf287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288" name="tx288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289" name="wf289"/>
          <p:cNvSpPr/>
          <p:nvPr/>
        </p:nvSpPr>
        <p:spPr>
          <a:xfrm>
            <a:off x="1517904" y="1865376"/>
            <a:ext cx="2907792" cy="45720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90" name="wf290"/>
          <p:cNvSpPr/>
          <p:nvPr/>
        </p:nvSpPr>
        <p:spPr>
          <a:xfrm>
            <a:off x="548640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91" name="wf291"/>
          <p:cNvSpPr/>
          <p:nvPr/>
        </p:nvSpPr>
        <p:spPr>
          <a:xfrm>
            <a:off x="2206752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92" name="wf292"/>
          <p:cNvSpPr/>
          <p:nvPr/>
        </p:nvSpPr>
        <p:spPr>
          <a:xfrm>
            <a:off x="3864864" y="2505456"/>
            <a:ext cx="1530096" cy="3758184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293" name="tx293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295" name="tx295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294" name="fld294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297" name="tx297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296" name="fld296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299" name="tx299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298" name="fld298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301" name="tx301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300" name="fld300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303" name="tx303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302" name="fld302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305" name="tx305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304" name="fld304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wf306"/>
          <p:cNvSpPr/>
          <p:nvPr/>
        </p:nvSpPr>
        <p:spPr>
          <a:xfrm>
            <a:off x="365760" y="274320"/>
            <a:ext cx="11457432" cy="566928"/>
          </a:xfrm>
          <a:prstGeom prst="roundRect">
            <a:avLst/>
          </a:prstGeom>
          <a:solidFill>
            <a:srgbClr val="2A2F3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tx307"/>
          <p:cNvSpPr txBox="1"/>
          <p:nvPr/>
        </p:nvSpPr>
        <p:spPr>
          <a:xfrm>
            <a:off x="502920" y="310896"/>
            <a:ext cx="82296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400" b="1" i="0">
                <a:solidFill>
                  <a:srgbClr val="FFFFFF"/>
                </a:solidFill>
                <a:latin typeface="Segoe UI"/>
              </a:rPr>
              <a:t>12 · Closing CTA</a:t>
            </a:r>
          </a:p>
        </p:txBody>
      </p:sp>
      <p:sp>
        <p:nvSpPr>
          <p:cNvPr id="308" name="tx308"/>
          <p:cNvSpPr txBox="1"/>
          <p:nvPr/>
        </p:nvSpPr>
        <p:spPr>
          <a:xfrm>
            <a:off x="8595360" y="310896"/>
            <a:ext cx="3200400" cy="502920"/>
          </a:xfrm>
          <a:prstGeom prst="rect">
            <a:avLst/>
          </a:prstGeom>
          <a:noFill/>
        </p:spPr>
        <p:txBody>
          <a:bodyPr wrap="square" anchor="ctr" lIns="45720" tIns="27432" rIns="45720" bIns="27432"/>
          <a:lstStyle/>
          <a:p>
            <a:pPr algn="r">
              <a:spcAft>
                <a:spcPts val="300"/>
              </a:spcAft>
            </a:pPr>
            <a:r>
              <a:rPr lang="en-GB" sz="1050" b="0" i="0">
                <a:solidFill>
                  <a:srgbClr val="AAB0B6"/>
                </a:solidFill>
                <a:latin typeface="Segoe UI"/>
              </a:rPr>
              <a:t>Section 12 / 12</a:t>
            </a:r>
          </a:p>
        </p:txBody>
      </p:sp>
      <p:sp>
        <p:nvSpPr>
          <p:cNvPr id="309" name="tx309"/>
          <p:cNvSpPr txBox="1"/>
          <p:nvPr/>
        </p:nvSpPr>
        <p:spPr>
          <a:xfrm>
            <a:off x="502920" y="932688"/>
            <a:ext cx="11155680" cy="310896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0" i="1">
                <a:solidFill>
                  <a:srgbClr val="6B7178"/>
                </a:solidFill>
                <a:latin typeface="Segoe UI"/>
              </a:rPr>
              <a:t>Final call-to-action.</a:t>
            </a:r>
          </a:p>
        </p:txBody>
      </p:sp>
      <p:sp>
        <p:nvSpPr>
          <p:cNvPr id="310" name="wf310"/>
          <p:cNvSpPr/>
          <p:nvPr/>
        </p:nvSpPr>
        <p:spPr>
          <a:xfrm>
            <a:off x="365760" y="1371600"/>
            <a:ext cx="5212080" cy="5074920"/>
          </a:xfrm>
          <a:prstGeom prst="rect">
            <a:avLst/>
          </a:prstGeom>
          <a:solidFill>
            <a:srgbClr val="F6F7F8"/>
          </a:solidFill>
          <a:ln w="9525">
            <a:solidFill>
              <a:srgbClr val="D6DADE"/>
            </a:solidFill>
          </a:ln>
        </p:spPr>
        <p:txBody>
          <a:bodyPr/>
          <a:lstStyle/>
          <a:p/>
        </p:txBody>
      </p:sp>
      <p:sp>
        <p:nvSpPr>
          <p:cNvPr id="311" name="tx311"/>
          <p:cNvSpPr txBox="1"/>
          <p:nvPr/>
        </p:nvSpPr>
        <p:spPr>
          <a:xfrm>
            <a:off x="475488" y="1426464"/>
            <a:ext cx="521208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850" b="1" i="0">
                <a:solidFill>
                  <a:srgbClr val="9AA1A8"/>
                </a:solidFill>
                <a:latin typeface="Segoe UI"/>
              </a:rPr>
              <a:t>LAYOUT SKETCH — abstract, not final</a:t>
            </a:r>
          </a:p>
        </p:txBody>
      </p:sp>
      <p:sp>
        <p:nvSpPr>
          <p:cNvPr id="312" name="wf312"/>
          <p:cNvSpPr/>
          <p:nvPr/>
        </p:nvSpPr>
        <p:spPr>
          <a:xfrm>
            <a:off x="1275588" y="2139696"/>
            <a:ext cx="3392424" cy="502920"/>
          </a:xfrm>
          <a:prstGeom prst="roundRect">
            <a:avLst/>
          </a:prstGeom>
          <a:solidFill>
            <a:srgbClr val="EAECEE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313" name="wf313"/>
          <p:cNvSpPr/>
          <p:nvPr/>
        </p:nvSpPr>
        <p:spPr>
          <a:xfrm>
            <a:off x="912114" y="2779776"/>
            <a:ext cx="4119372" cy="320040"/>
          </a:xfrm>
          <a:prstGeom prst="roundRect">
            <a:avLst/>
          </a:prstGeom>
          <a:solidFill>
            <a:srgbClr val="DDE0E3"/>
          </a:solidFill>
          <a:ln w="9525">
            <a:solidFill>
              <a:srgbClr val="C7CCD1"/>
            </a:solidFill>
          </a:ln>
        </p:spPr>
        <p:txBody>
          <a:bodyPr/>
          <a:lstStyle/>
          <a:p/>
        </p:txBody>
      </p:sp>
      <p:sp>
        <p:nvSpPr>
          <p:cNvPr id="314" name="wf314"/>
          <p:cNvSpPr/>
          <p:nvPr/>
        </p:nvSpPr>
        <p:spPr>
          <a:xfrm>
            <a:off x="2341778" y="3419856"/>
            <a:ext cx="1260043" cy="329184"/>
          </a:xfrm>
          <a:prstGeom prst="roundRect">
            <a:avLst/>
          </a:prstGeom>
          <a:solidFill>
            <a:srgbClr val="5B616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tx315"/>
          <p:cNvSpPr txBox="1"/>
          <p:nvPr/>
        </p:nvSpPr>
        <p:spPr>
          <a:xfrm>
            <a:off x="5806440" y="1371600"/>
            <a:ext cx="5989320" cy="292608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950" b="1" i="0">
                <a:solidFill>
                  <a:srgbClr val="9AA1A8"/>
                </a:solidFill>
                <a:latin typeface="Segoe UI"/>
              </a:rPr>
              <a:t>CONTENT — fill what's relevant, skip the rest</a:t>
            </a:r>
          </a:p>
        </p:txBody>
      </p:sp>
      <p:sp>
        <p:nvSpPr>
          <p:cNvPr id="317" name="tx317"/>
          <p:cNvSpPr txBox="1"/>
          <p:nvPr/>
        </p:nvSpPr>
        <p:spPr>
          <a:xfrm>
            <a:off x="5806440" y="171907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Headline</a:t>
            </a:r>
          </a:p>
        </p:txBody>
      </p:sp>
      <p:sp>
        <p:nvSpPr>
          <p:cNvPr id="316" name="fld316"/>
          <p:cNvSpPr txBox="1"/>
          <p:nvPr/>
        </p:nvSpPr>
        <p:spPr>
          <a:xfrm>
            <a:off x="5806440" y="199339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headline ›</a:t>
            </a:r>
          </a:p>
        </p:txBody>
      </p:sp>
      <p:sp>
        <p:nvSpPr>
          <p:cNvPr id="319" name="tx319"/>
          <p:cNvSpPr txBox="1"/>
          <p:nvPr/>
        </p:nvSpPr>
        <p:spPr>
          <a:xfrm>
            <a:off x="5806440" y="2506980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Supporting copy</a:t>
            </a:r>
          </a:p>
        </p:txBody>
      </p:sp>
      <p:sp>
        <p:nvSpPr>
          <p:cNvPr id="318" name="fld318"/>
          <p:cNvSpPr txBox="1"/>
          <p:nvPr/>
        </p:nvSpPr>
        <p:spPr>
          <a:xfrm>
            <a:off x="5806440" y="2781300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short supporting text / sub-headline ›</a:t>
            </a:r>
          </a:p>
        </p:txBody>
      </p:sp>
      <p:sp>
        <p:nvSpPr>
          <p:cNvPr id="321" name="tx321"/>
          <p:cNvSpPr txBox="1"/>
          <p:nvPr/>
        </p:nvSpPr>
        <p:spPr>
          <a:xfrm>
            <a:off x="5806440" y="3294888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Body</a:t>
            </a:r>
          </a:p>
        </p:txBody>
      </p:sp>
      <p:sp>
        <p:nvSpPr>
          <p:cNvPr id="320" name="fld320"/>
          <p:cNvSpPr txBox="1"/>
          <p:nvPr/>
        </p:nvSpPr>
        <p:spPr>
          <a:xfrm>
            <a:off x="5806440" y="3569208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main copy — keep it loose, length is flexible ›</a:t>
            </a:r>
          </a:p>
        </p:txBody>
      </p:sp>
      <p:sp>
        <p:nvSpPr>
          <p:cNvPr id="323" name="tx323"/>
          <p:cNvSpPr txBox="1"/>
          <p:nvPr/>
        </p:nvSpPr>
        <p:spPr>
          <a:xfrm>
            <a:off x="5806440" y="4082796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Key points (optional — one per line)</a:t>
            </a:r>
          </a:p>
        </p:txBody>
      </p:sp>
      <p:sp>
        <p:nvSpPr>
          <p:cNvPr id="322" name="fld322"/>
          <p:cNvSpPr txBox="1"/>
          <p:nvPr/>
        </p:nvSpPr>
        <p:spPr>
          <a:xfrm>
            <a:off x="5806440" y="4357116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point ›
‹ point ›
‹ point ›</a:t>
            </a:r>
          </a:p>
        </p:txBody>
      </p:sp>
      <p:sp>
        <p:nvSpPr>
          <p:cNvPr id="325" name="tx325"/>
          <p:cNvSpPr txBox="1"/>
          <p:nvPr/>
        </p:nvSpPr>
        <p:spPr>
          <a:xfrm>
            <a:off x="5806440" y="4870704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Call-to-action (if any)</a:t>
            </a:r>
          </a:p>
        </p:txBody>
      </p:sp>
      <p:sp>
        <p:nvSpPr>
          <p:cNvPr id="324" name="fld324"/>
          <p:cNvSpPr txBox="1"/>
          <p:nvPr/>
        </p:nvSpPr>
        <p:spPr>
          <a:xfrm>
            <a:off x="5806440" y="5145024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button / link text ›</a:t>
            </a:r>
          </a:p>
        </p:txBody>
      </p:sp>
      <p:sp>
        <p:nvSpPr>
          <p:cNvPr id="327" name="tx327"/>
          <p:cNvSpPr txBox="1"/>
          <p:nvPr/>
        </p:nvSpPr>
        <p:spPr>
          <a:xfrm>
            <a:off x="5806440" y="5658612"/>
            <a:ext cx="5989320" cy="274320"/>
          </a:xfrm>
          <a:prstGeom prst="rect">
            <a:avLst/>
          </a:prstGeom>
          <a:noFill/>
        </p:spPr>
        <p:txBody>
          <a:bodyPr wrap="square" anchor="t" lIns="45720" tIns="27432" rIns="45720" bIns="27432"/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6B7178"/>
                </a:solidFill>
                <a:latin typeface="Segoe UI"/>
              </a:rPr>
              <a:t>Visual brief (subject / mood)</a:t>
            </a:r>
          </a:p>
        </p:txBody>
      </p:sp>
      <p:sp>
        <p:nvSpPr>
          <p:cNvPr id="326" name="fld326"/>
          <p:cNvSpPr txBox="1"/>
          <p:nvPr/>
        </p:nvSpPr>
        <p:spPr>
          <a:xfrm>
            <a:off x="5806440" y="5932932"/>
            <a:ext cx="5989320" cy="4221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CD1"/>
            </a:solidFill>
          </a:ln>
        </p:spPr>
        <p:txBody>
          <a:bodyPr wrap="square" anchor="t" lIns="73152" tIns="45720" rIns="73152" bIns="45720"/>
          <a:lstStyle/>
          <a:p>
            <a:r>
              <a:rPr lang="en-GB" sz="1050" i="1">
                <a:solidFill>
                  <a:srgbClr val="AAB0B6"/>
                </a:solidFill>
                <a:latin typeface="Segoe UI"/>
              </a:rPr>
              <a:t>‹ what should the image or graphic show 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F">
  <a:themeElements>
    <a:clrScheme name="WF">
      <a:dk1>
        <a:sysClr val="windowText" lastClr="000000"/>
      </a:dk1>
      <a:lt1>
        <a:sysClr val="window" lastClr="FFFFFF"/>
      </a:lt1>
      <a:dk2>
        <a:srgbClr val="2A2F34"/>
      </a:dk2>
      <a:lt2>
        <a:srgbClr val="EEF0F2"/>
      </a:lt2>
      <a:accent1>
        <a:srgbClr val="5B6168"/>
      </a:accent1>
      <a:accent2>
        <a:srgbClr val="9AA1A8"/>
      </a:accent2>
      <a:accent3>
        <a:srgbClr val="C7CCD1"/>
      </a:accent3>
      <a:accent4>
        <a:srgbClr val="6B7178"/>
      </a:accent4>
      <a:accent5>
        <a:srgbClr val="D6DADE"/>
      </a:accent5>
      <a:accent6>
        <a:srgbClr val="3C4248"/>
      </a:accent6>
      <a:hlink>
        <a:srgbClr val="5B6168"/>
      </a:hlink>
      <a:folHlink>
        <a:srgbClr val="9AA1A8"/>
      </a:folHlink>
    </a:clrScheme>
    <a:fontScheme name="WF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WF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WireframeBuilder</Application>
  <Slides>14</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Vitamin D3 Spray — Wireframe &amp; Content Deck</dc:title>
  <dc:creator>PolarisDX</dc:creator>
  <cp:lastModifiedBy>PolarisDX</cp:lastModifiedBy>
</cp:coreProperties>
</file>